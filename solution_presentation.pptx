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Validation PSNR climbs steadily, no overfitting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PSNR (dB)</c:v>
                </c:pt>
              </c:strCache>
            </c:strRef>
          </c:tx>
          <c:spPr>
            <a:ln w="31750" cap="flat">
              <a:solidFill>
                <a:srgbClr val="1E8A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A8A"/>
              </a:solidFill>
              <a:ln w="9525" cap="flat">
                <a:solidFill>
                  <a:srgbClr val="1E8A8A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Ep5</c:v>
                </c:pt>
                <c:pt idx="1">
                  <c:v>Ep15</c:v>
                </c:pt>
                <c:pt idx="2">
                  <c:v>Ep25</c:v>
                </c:pt>
                <c:pt idx="3">
                  <c:v>Ep35</c:v>
                </c:pt>
                <c:pt idx="4">
                  <c:v>Ep45</c:v>
                </c:pt>
                <c:pt idx="5">
                  <c:v>Ep55</c:v>
                </c:pt>
                <c:pt idx="6">
                  <c:v>Ep65</c:v>
                </c:pt>
                <c:pt idx="7">
                  <c:v>Ep75</c:v>
                </c:pt>
                <c:pt idx="8">
                  <c:v>Ep90</c:v>
                </c:pt>
                <c:pt idx="9">
                  <c:v>Ep100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28.06</c:v>
                </c:pt>
                <c:pt idx="1">
                  <c:v>28.4</c:v>
                </c:pt>
                <c:pt idx="2">
                  <c:v>28.46</c:v>
                </c:pt>
                <c:pt idx="3">
                  <c:v>28.71</c:v>
                </c:pt>
                <c:pt idx="4">
                  <c:v>28.87</c:v>
                </c:pt>
                <c:pt idx="5">
                  <c:v>28.93</c:v>
                </c:pt>
                <c:pt idx="6">
                  <c:v>28.88</c:v>
                </c:pt>
                <c:pt idx="7">
                  <c:v>28.84</c:v>
                </c:pt>
                <c:pt idx="8">
                  <c:v>29.05</c:v>
                </c:pt>
                <c:pt idx="9">
                  <c:v>29.13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BF-4308-91BC-AD5C1E5A5C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dB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6233A"/>
                </a:solidFill>
                <a:latin typeface="Arial"/>
              </a:rPr>
              <a:t>PSNR (dB)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 (dB)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F2-4AFB-BC69-9BB93D4E8A71}"/>
              </c:ext>
            </c:extLst>
          </c:dPt>
          <c:dPt>
            <c:idx val="1"/>
            <c:invertIfNegative val="0"/>
            <c:bubble3D val="0"/>
            <c:spPr>
              <a:solidFill>
                <a:srgbClr val="1E8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F2-4AFB-BC69-9BB93D4E8A7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623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
(bicubic)</c:v>
                </c:pt>
                <c:pt idx="1">
                  <c:v>Our Model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23.082999999999998</c:v>
                </c:pt>
                <c:pt idx="1">
                  <c:v>27.81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F2-4AFB-BC69-9BB93D4E8A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6233A"/>
                </a:solidFill>
                <a:latin typeface="Arial"/>
              </a:rPr>
              <a:t>SSIM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SSIM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2EF-48D2-9C12-8BC62607D718}"/>
              </c:ext>
            </c:extLst>
          </c:dPt>
          <c:dPt>
            <c:idx val="1"/>
            <c:invertIfNegative val="0"/>
            <c:bubble3D val="0"/>
            <c:spPr>
              <a:solidFill>
                <a:srgbClr val="1E8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EF-48D2-9C12-8BC62607D71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623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
(bicubic)</c:v>
                </c:pt>
                <c:pt idx="1">
                  <c:v>Our Model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0.55449999999999999</c:v>
                </c:pt>
                <c:pt idx="1">
                  <c:v>0.76780000000000004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EF-48D2-9C12-8BC62607D7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6233A"/>
                </a:solidFill>
                <a:latin typeface="Arial"/>
              </a:rPr>
              <a:t>LPIPS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LPIPS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8AE-42B4-92B7-B85799ED1B12}"/>
              </c:ext>
            </c:extLst>
          </c:dPt>
          <c:dPt>
            <c:idx val="1"/>
            <c:invertIfNegative val="0"/>
            <c:bubble3D val="0"/>
            <c:spPr>
              <a:solidFill>
                <a:srgbClr val="1E8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AE-42B4-92B7-B85799ED1B1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623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
(bicubic)</c:v>
                </c:pt>
                <c:pt idx="1">
                  <c:v>Our Model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0.43509999999999999</c:v>
                </c:pt>
                <c:pt idx="1">
                  <c:v>0.27060000000000001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AE-42B4-92B7-B85799ED1B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53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 PROBLEM STATEMENT · HACKATHON 2026 · SEMICON INDIA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Restoration of Degraded Images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Semiconductor Inspection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611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NAFNet-based joint denoising + super-resolution model that restores NoisyLR images to GT quality — 27.8 dB PSNR, +4.7 dB over a bicubic baseline, at ~15 ms/image on GPU.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Anaavarana · A Trail to Unveil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 &amp; Restoration Task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single transformation that recovers a clean, ground-truth-resolution image from a degraded NoisyLR observation — without hallucinating detail that isn't recoverable from the input.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400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confirmed degradations only: speckle noise, additive Gaussian noise, downsampling — order undisclosed, may be any order</a:t>
            </a:r>
            <a:endParaRPr lang="en-US" sz="1400" dirty="0"/>
          </a:p>
          <a:p>
            <a:pPr marL="228600" indent="-2286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values normalized to [0,1]; NoisyLR intentionally may extend slightly outside [0,1]</a:t>
            </a:r>
            <a:endParaRPr lang="en-US" sz="1400" dirty="0"/>
          </a:p>
          <a:p>
            <a:pPr marL="228600" indent="-2286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test set includes in-distribution AND out-of-distribution image content</a:t>
            </a:r>
            <a:endParaRPr lang="en-US" sz="1400" dirty="0"/>
          </a:p>
          <a:p>
            <a:pPr marL="228600" indent="-2286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fixed internal combination of PSNR, SSIM, LPIPS on hidden GT, plus end-to-end throughput on a common NVIDIA H100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24688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4688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NoisyLR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(degraded)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49640" y="24688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869680" y="24688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E8A8A"/>
          </a:solidFill>
          <a:ln w="12700">
            <a:solidFill>
              <a:srgbClr val="1E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0" y="24688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104120" y="24688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24160" y="24688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0" y="24688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 GT)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3657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maximize fidelity + structural similarity + perceptual quality — without destroying real 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Analysis &amp; Degradation Observations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NoisyLR/GT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2344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371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128→256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1965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NoisyLR → GT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(2× scale)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71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validation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(10%, leak-free)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2344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371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15400" y="1965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/ mismatched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found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Whole-dataset validation (validate_data.py) before training: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400"/>
              </a:lnSpc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3,200 files matched 1:1 by filename stem between NoisyLR/ and GT/</a:t>
            </a:r>
            <a:endParaRPr lang="en-US" sz="1300" dirty="0"/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consistent scale factor confirmed across the entire dataset: 2.0×</a:t>
            </a:r>
            <a:endParaRPr lang="en-US" sz="1300" dirty="0"/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value range: [0.000, 1.000] — matches spec exactly</a:t>
            </a:r>
            <a:endParaRPr lang="en-US" sz="1300" dirty="0"/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NoisyLR value range: [−0.279, 2.158] — confirms values intentionally exceed [0,1]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the noise is not purely pixel-independent — speckle/Gaussian compounding plus downsampling produces spatially correlated degradation, particularly visible on periodic textures (see Slide 11, aliasing failure case).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97480" cy="2834640"/>
          </a:xfrm>
          <a:prstGeom prst="roundRect">
            <a:avLst>
              <a:gd name="adj" fmla="val 203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validate_data.py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Whole-dataset integrity check: matched filenames, consistent scale, value ranges, corrupt files — run once before any training.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97480" cy="283464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2044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5146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train/val split, NAFNetSR training, per-epoch CSV log + config JSON + val-split manifest auto-saved.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97480" cy="2834640"/>
          </a:xfrm>
          <a:prstGeom prst="roundRect">
            <a:avLst>
              <a:gd name="adj" fmla="val 203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5508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Full-resolution PSNR/SSIM/LPIPS on held-out val set, bicubic baseline comparison, best/worst case export.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371600"/>
            <a:ext cx="2697480" cy="283464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8972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inference.py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720" y="25146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Standalone: --input_dir / --output_dir / --checkpoint only. Batches by shape, GPU-accelerated, end-to-end timed exactly per KLA's runtime definition.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reproducible from the README with no manual source-code edits — verified with a clean end-to-end dry run.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Augmentation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is used at its NATIVE 256×256 resolution — never downsampled to match NoisyLR. The model upsamples internally, so no ground-truth detail is discarded before training. Early experiments that downsampled GT to match NoisyLR produced visibly blurred, over-smoothed restorations by destroying fine structure in the training target itself.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paired crop: 64×64 from NoisyLR ↔ 128×128 from GT (same physical location, native pixels)</a:t>
            </a:r>
            <a:endParaRPr lang="en-US" sz="1300" dirty="0"/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+ vertical flips</a:t>
            </a:r>
            <a:endParaRPr lang="en-US" sz="1300" dirty="0"/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synthetic degradation generator (speckle + Gaussian + downsampling, random order) to create extra pairs from GT-only images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234440"/>
            <a:ext cx="4846320" cy="4480560"/>
          </a:xfrm>
          <a:prstGeom prst="roundRect">
            <a:avLst>
              <a:gd name="adj" fmla="val 122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degradation spec (src/degradations.py)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96596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Speckle noise: img + img × N(0, level²), level ∈ [0.05, 0.25]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Gaussian noise: N(0, σ²), σ ∈ [0.01, 0.08]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Downsampling: area-averaging by the target scale factor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applied in a RANDOMLY SHUFFLED order per sample — matches KLA's confirmed “order not disclosed” spec exactly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intentionally left unclipped (may exceed [0,1])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&amp; Design Rationale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NAFNetSR: NAFNet encoder-decoder + PixelShuffle super-resolution head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NoisyLR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73736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17373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E8A8A"/>
          </a:solidFill>
          <a:ln w="12700">
            <a:solidFill>
              <a:srgbClr val="1E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74320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NAFNet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73736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37760" y="17373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E8A8A"/>
          </a:solidFill>
          <a:ln w="12700">
            <a:solidFill>
              <a:srgbClr val="1E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PixelShuffle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Head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73736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17373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13232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Bicubic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52560" y="173736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326880" y="17373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32688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(GT res.)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NAFNet over Restormer / SwinIR: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or beats heavier transformer baselines on real-world denoising benchmarks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Substantially cheaper to run — directly relevant to KLA's H100 throughput scoring axis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SimpleGate + Simplified Channel Attention replace nonlinear activations entirely: strong quality/compute trade-off, no custom CUDA ops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bicubic-residual connection lets the network focus on the denoise+detail correction, not full reconstruction from scratch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2880360"/>
            <a:ext cx="5120640" cy="329184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8368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variants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 (this run)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1.0M params · 27.81dB · ~5ms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 (benchmarked)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0" y="3977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3.1M params · 28.14dB · ~8.8ms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4480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benchmarked on the same held-out validation set. small scored +0.33 dB / +0.010 SSIM / −0.014 LPIPS over tiny, at ~1.8× the inference latency. tiny was chosen as the final submission for its stronger quality/throughput trade-off — a deliberate, measured decision, not a default.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&amp; Training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loss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1.0 × Charbonnier(pred, GT)  +  0.2 × (1 − SSIM(pred, GT))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Charbonnier: smooth-L1 reconstruction loss, standard in SR/denoising literature (Restormer, SwinIR, MPRNet) — robust to outliers, sharper than plain L1</a:t>
            </a:r>
            <a:endParaRPr lang="en-US" sz="1250" dirty="0"/>
          </a:p>
          <a:p>
            <a:pPr marL="228600" indent="-2286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term: directly optimizes toward one of the three reported metrics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5394960" cy="186537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weight decay 1e-4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schedule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2e-4 → 0, cosine annealing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clipping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max-norm 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(fixed, logged)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6309360" y="1234440"/>
            <a:ext cx="5120640" cy="4754880"/>
          </a:xfrm>
          <a:prstGeom prst="roundRect">
            <a:avLst>
              <a:gd name="adj" fmla="val 115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(automatic, every run)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0" y="210312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results/train_config_&lt;run_id&gt;.json — full hyperparameters, seed, PyTorch/CUDA/GPU info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results/train_log_&lt;run_id&gt;.csv — per-epoch loss, LR, val PSNR/SSIM, wall time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results/val_split_&lt;run_id&gt;.json — exact held-out filenames (reproducible, leak-free)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weights/best.pt — checkpoint with embedded config for exact reproducibility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&amp; Baseline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 (100 epochs, full 3,200-image dataset)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00200"/>
          <a:ext cx="55778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92240" y="1188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methodology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92240" y="160020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bicubic upsampling only, zero denoising — exactly what the model's own global residual connection starts from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the SAME 320 held-out, leak-free validation images as the trained model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evaluated at FULL RESOLUTION (256×256+), not training crops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4297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decreased from 0.109 → 0.073 in the first ~35 epochs, then plateaued — val PSNR continued climbing slowly through epoch 100, suggesting the tiny (1M param) model is approaching its capacity ceiling. See Slide 12 for the small-model follow-up.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PSNR, SSIM &amp; LPIPS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Full-resolution evaluation on 320 held-out validation images (evaluate.py)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91640"/>
          <a:ext cx="35204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4572000"/>
            <a:ext cx="2788920" cy="502920"/>
          </a:xfrm>
          <a:prstGeom prst="roundRect">
            <a:avLst>
              <a:gd name="adj" fmla="val 9090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572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+4.73 dB vs baseline</a:t>
            </a:r>
            <a:endParaRPr lang="en-US" sz="12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160520" y="1691640"/>
          <a:ext cx="35204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526280" y="4572000"/>
            <a:ext cx="2788920" cy="502920"/>
          </a:xfrm>
          <a:prstGeom prst="roundRect">
            <a:avLst>
              <a:gd name="adj" fmla="val 9090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26280" y="4572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+0.213 vs baseline</a:t>
            </a:r>
            <a:endParaRPr lang="en-US" sz="1250" dirty="0"/>
          </a:p>
        </p:txBody>
      </p:sp>
      <p:graphicFrame>
        <p:nvGraphicFramePr>
          <p:cNvPr id="11" name="Chart 2"/>
          <p:cNvGraphicFramePr/>
          <p:nvPr/>
        </p:nvGraphicFramePr>
        <p:xfrm>
          <a:off x="7772400" y="1691640"/>
          <a:ext cx="35204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Shape 7"/>
          <p:cNvSpPr/>
          <p:nvPr/>
        </p:nvSpPr>
        <p:spPr>
          <a:xfrm>
            <a:off x="8138160" y="4572000"/>
            <a:ext cx="2788920" cy="502920"/>
          </a:xfrm>
          <a:prstGeom prst="roundRect">
            <a:avLst>
              <a:gd name="adj" fmla="val 9090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138160" y="4572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−0.164 vs baseline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beats the bicubic-only baseline on every metric by a clear margin — confirming genuine denoising + detail-recovery work, not just the residual bicubic pass baked into the architecture.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Batch Size &amp; Optimization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 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end-to-end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image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173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~13.9 ms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image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4173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4173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4.90 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15400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time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(320 images, batch=8)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configuration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5486400" cy="20878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Tesla T4 (dev/test machine)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2.11.0+cu128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wall-clock time.time(), disk read → preprocessing → H2D → model → D2H → save, matching KLA's exact runtime definition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492240" y="2926080"/>
            <a:ext cx="5120640" cy="3108960"/>
          </a:xfrm>
          <a:prstGeom prst="roundRect">
            <a:avLst>
              <a:gd name="adj" fmla="val 176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H100 scoring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766560" y="356616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Development/testing was done on a Colab Tesla T4. KLA's shortlisting stage reruns the submitted pipeline on a common NVIDIA H100 for the official throughput score — expect meaningfully faster per-image latency there given the H100's substantially higher memory bandwidth and compute throughput versus a T4.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inference.py auto-detects CUDA and requires no code changes to run on any NVIDIA GPU.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Results, Failure Cases &amp; Limitations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restorations — final tiny checkpoint, real test-set images</a:t>
            </a:r>
            <a:endParaRPr lang="en-US" sz="1300" dirty="0"/>
          </a:p>
        </p:txBody>
      </p:sp>
      <p:pic>
        <p:nvPicPr>
          <p:cNvPr id="5" name="Image 0" descr="final_examp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3520440" cy="1865233"/>
          </a:xfrm>
          <a:prstGeom prst="rect">
            <a:avLst/>
          </a:prstGeom>
        </p:spPr>
      </p:pic>
      <p:pic>
        <p:nvPicPr>
          <p:cNvPr id="6" name="Image 1" descr="final_exampl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481328"/>
            <a:ext cx="3520440" cy="1865233"/>
          </a:xfrm>
          <a:prstGeom prst="rect">
            <a:avLst/>
          </a:prstGeom>
        </p:spPr>
      </p:pic>
      <p:pic>
        <p:nvPicPr>
          <p:cNvPr id="7" name="Image 2" descr="final_exampl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481328"/>
            <a:ext cx="3520440" cy="186523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3419713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with the final 100-epoch tiny checkpoint (weights/best.pt) on unseen test images — heavy speckle/Gaussian noise removed, fine structural detail (edges, line work, texture) preserved rather than smoothed away.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548640" y="4572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distinct, well-understood failure modes identified: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48640" y="48920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85800" y="50109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Fine detail loss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85800" y="5303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Ornamental micro-texture destroyed by 2× downsampling before the model sees it. Model correctly smooths rather than hallucinates.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297680" y="48920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434840" y="50109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Aliasing (Moiré)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434840" y="5303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patterns (e.g. corrugated roofing) fold into a false pattern during downsampling. Model confidently reconstructs the aliased structure.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46720" y="48920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183880" y="50109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Stochastic-texture ceiling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183880" y="5303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is itself high-entropy random texture — an information-theoretic limit no model can cross; even a perfect oracle can't win here.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 Detail: Aliasing (Moiré Pattern)</a:t>
            </a:r>
            <a:endParaRPr lang="en-US" sz="2800" dirty="0"/>
          </a:p>
        </p:txBody>
      </p:sp>
      <p:pic>
        <p:nvPicPr>
          <p:cNvPr id="4" name="Image 0" descr="failure_0019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10642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976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corrugated-roof stripe pattern is periodic at a frequency close to the Nyquist limit after 2× downsampling. The noisy input already shows a false checkerboard pattern (classic Moiré aliasing) rather than random noise. The model faithfully cleans up noise but reconstructs the ALIASED pattern with confidence — arguably a more subtle failure than case 1, since the output looks clean and plausible while being structurally wrong. This is a property of the degradation pipeline itself, not a training defect.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11b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External Resources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NAFNetSR (1M params) restores NoisyLR → GT quality in a single forward pass</a:t>
            </a:r>
            <a:endParaRPr lang="en-US" sz="1300" dirty="0"/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27.81 dB PSNR / 0.768 SSIM / 0.271 LPIPS on held-out full-resolution validation</a:t>
            </a:r>
            <a:endParaRPr lang="en-US" sz="1300" dirty="0"/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+4.7 dB PSNR over bicubic baseline — clear, non-trivial improvement</a:t>
            </a:r>
            <a:endParaRPr lang="en-US" sz="1300" dirty="0"/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~7.5 ms/image steady-state inference on a T4 GPU (expect faster on H100)</a:t>
            </a:r>
            <a:endParaRPr lang="en-US" sz="1300" dirty="0"/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reproducible: validate → train → evaluate → infer, config/seed/log tracked automatically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resources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pretrained weights or public datasets used. Architecture inspired by NAFNet (Chen et al., ECCV 2022, “Simple Baselines for Image Restoration”) — reimplemented from scratch for this submission.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5120640" cy="4343400"/>
          </a:xfrm>
          <a:prstGeom prst="roundRect">
            <a:avLst>
              <a:gd name="adj" fmla="val 126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100"/>
              </a:lnSpc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further architecture scaling beyond small (3.1M params, already benchmarked — see Slide 6) if additional quality is needed</a:t>
            </a:r>
            <a:endParaRPr lang="en-US" sz="1250" dirty="0"/>
          </a:p>
          <a:p>
            <a:pPr marL="228600" indent="-228600">
              <a:lnSpc>
                <a:spcPts val="2100"/>
              </a:lnSpc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training beyond 100 epochs given validation PSNR was still climbing</a:t>
            </a:r>
            <a:endParaRPr lang="en-US" sz="1250" dirty="0"/>
          </a:p>
          <a:p>
            <a:pPr marL="228600" indent="-228600">
              <a:lnSpc>
                <a:spcPts val="2100"/>
              </a:lnSpc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synthetic degradation augmentation for additional out-of-distribution robustness</a:t>
            </a:r>
            <a:endParaRPr lang="en-US" sz="1250" dirty="0"/>
          </a:p>
          <a:p>
            <a:pPr marL="228600" indent="-228600">
              <a:lnSpc>
                <a:spcPts val="2100"/>
              </a:lnSpc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targeted handling for periodic/high-frequency textures (Slide 11, case 2)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4526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https://github.com/Nag123-tel/kla-restoration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A   P R O B L E M   S T A T E M E N T   ·   H A C K A T H O N   2 0 2 6   ·   S E M I C O N   I N D I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Update: SEM Domain Adaptation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Validated Improvements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and validated NAFNetSR on real SEM imagery </a:t>
            </a: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+0.090 dB PSNR</a:t>
            </a: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baseline through verified, additive improvements, confirmed on two independent held-out test sets.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Anaavarana · A Trail to Unveil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Data: Genuine SEM Imagery, Not Natural Photos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813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4,785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SEM pairs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3,200 natural photos in Phase 1)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4813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011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verified content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(K-means on CNN features)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4813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011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GT intensity vs.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 (confirms multiplicative/speckle noise)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13716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98280" y="14813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011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external test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zero content overlap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290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this is real semiconductor/nanomaterial SEM content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840480"/>
            <a:ext cx="11247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 + cross-reference against project's own EM-annotation research confirmed wires, fiber networks, particle aggregates, and porous/crystalline structures — not the natural-photo proxy dataset used in Phase 1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analysis found no dominant periodic structure in this data — the aliasing/moiré failure mode from Phase 1 (Slide 11b) is a low-priority risk here; stochastic-texture and fine-detail recovery are the real challenges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is confirmed multiplicative (speckle-dominant): noise level scales with local pixel intensity (corr=0.864), measured across the full dataset — not assumed from the spec alone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Content-Stratified, Verified Leak-Free Validation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plain random split?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90/10 split risks under- or over-representing content types by chance. We built a stratified split instead: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04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5511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(ImageNet-pretrained) as a generic texture descriptor — 512-d feature vector per GT image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898648"/>
            <a:ext cx="365760" cy="365760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871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(K-means, K=6→7)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118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grouping by visual similarity; one mixed cluster re-split (K=2) after visual inspection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365760" cy="365760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4381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by eye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685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cluster confirmed via contact-sheet grids — wires/rods, fiber mesh, dense/sparse particles, porous/foam, faceted grain boundary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032504"/>
            <a:ext cx="365760" cy="365760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005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90/10 split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251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held out per category — val set mirrors the true content mix, not a lucky/unlucky draw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1325880"/>
            <a:ext cx="5303520" cy="4709160"/>
          </a:xfrm>
          <a:prstGeom prst="roundRect">
            <a:avLst>
              <a:gd name="adj" fmla="val 1165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Verified Content Categories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1920240"/>
            <a:ext cx="5029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7512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particles on substrate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0332720" y="1965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1,487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2496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mesh networks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0" y="24963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2980944"/>
            <a:ext cx="5029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75120" y="30266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particle aggregates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0332720" y="30266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739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35570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Porous / foam / membrane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332720" y="35570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37960" y="4041648"/>
            <a:ext cx="5029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675120" y="40873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Grainy / blurry particles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332720" y="40873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4617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/ rods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332720" y="4617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37960" y="5102352"/>
            <a:ext cx="5029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675120" y="5148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Faceted grain boundary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10332720" y="5148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Categories, Visually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representative image per category — the clustering finds genuinely distinct morphologies, not arbitrary groupings:</a:t>
            </a:r>
            <a:endParaRPr lang="en-US" sz="1250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11247120" cy="20482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was verified by eye via 12-image contact sheets before being trusted for the stratified split — not accepted on the clustering algorithm's word alone.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Implemented — Additive &amp; Individually Verified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change measured independently via full-resolution, per-category evaluation before adoption — not just aggregate PSNR.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385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Category-weighted oversampling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938528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1.5× sampling weight on the two weakest-performing content categories (sparse particles, fiber mesh) — tested 3.0× first, found it over-corrected and damaged strong categories; 1.5× balanced gain vs. cost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195560" y="21488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19556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+0.029 dB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729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augmentation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172968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structural generalization, not noise removal. SEM imagery has no canonical orientation (unlike natural photos), so training on all 4 rotations gives valid extra spatial views of the same content — reduces overfitting to arbitrary crop orientation. Zero inference/throughput cost.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195560" y="33832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19556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+0.027 dB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4074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synthetic degradation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4407408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the repo's default synthetic noise generator poorly matched real noise statistics (corr=0.33–0.44 vs. real 0.864); recalibrated operation order + parameter range to corr=0.916; generated extra training pairs from training-only GT (verified leak-free)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195560" y="46177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19556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+0.034 dB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improvement: </a:t>
            </a: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+0.090 dB PSNR</a:t>
            </a: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 the unaugmented baseline (23.471 → 23.561 dB, internal val set)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Tried — and Correctly Rejected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measured evaluation over speculation: three well-motivated changes were tested and dropped after full-resolution verification.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Intensity-weighted loss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by the confirmed multiplicative-noise finding (corr=0.864) — reweighted per-pixel loss by inverse local intensity.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3154680" cy="594360"/>
          </a:xfrm>
          <a:prstGeom prst="roundRect">
            <a:avLst>
              <a:gd name="adj" fmla="val 9231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7033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-0.053 dB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43484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regressed. Noise-level mismatch was not the true bottleneck — structural recoverability is.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70248" y="19202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98848" y="2103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 capacity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(small, 3.1M params)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743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whether the tiny model (1.0M params) was capacity-limited, given the loss plateaued early in every run.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98848" y="3703320"/>
            <a:ext cx="3154680" cy="594360"/>
          </a:xfrm>
          <a:prstGeom prst="roundRect">
            <a:avLst>
              <a:gd name="adj" fmla="val 9231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98848" y="37033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-0.016 dB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2.07× latency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443484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Flat-to-negative quality at roughly double the batch-8 inference cost. Confirms tiny is architecturally sufficient.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83296" y="19202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11896" y="2103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noise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2743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synthetic noise calibration to a distinct range per category, matched to each category's own measured real noise level.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11896" y="3703320"/>
            <a:ext cx="3154680" cy="594360"/>
          </a:xfrm>
          <a:prstGeom prst="roundRect">
            <a:avLst>
              <a:gd name="adj" fmla="val 9231"/>
            </a:avLst>
          </a:prstGeom>
          <a:solidFill>
            <a:srgbClr val="8A7A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11896" y="37033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+0.005 dB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(null result)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11896" y="443484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matched intent, but effect size was too small to matter — further confirms the real bottleneck isn't noise-level mismatch.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Generalization Check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SEM-trained model still work on Phase 1's natural-photo domain, without ever training on it?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05840" y="19659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148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 baseline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1 photos)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23.08 dB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846320" y="19659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2148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SEM-trained model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Phase 1 photos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27.61 dB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8686800" y="19659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0" y="2148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own SEM domain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23.56 dB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1605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model scores higher on an entirely unseen domain than on its own training data — consistent with the strong restoration quality reported in Phase 1.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8463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photos are an inherently easier restoration task (more redundant structure, less stochastic texture) than SEM data — consistent with the 20.4 dB vs. 23.1 dB bicubic-baseline gap between domains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evidence against needing to merge Phase 1 data into Phase 2 training — the SEM-focused model already generalizes without diluting training signal away from the domain that matters for grading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— Two Independent Validations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Held-Out Val Set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 images · stratified, leak-free, drawn from the training pool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07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807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23.561 dB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807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20.444 dB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264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2644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0.6167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2644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0.4973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721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3721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0.3433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721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0.4870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137160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F4F6F8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Test Set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 images · genuinely separate data, verified zero content overlap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807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2807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23.624 dB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38360" y="2807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20.455 dB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264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32644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0.6311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738360" y="32644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0.5099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3721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001000" y="3721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0.3267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738360" y="3721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0.4655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test set scores as well or better on every metric — no evidence of overfitting to our own validation split through iterative tuning.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5257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batch-8 throughput (matching run.py's actual grading pipeline): 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863840" y="52120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863840" y="5212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3.42 ms/image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Results — Real Restorations, Real Noise Evidence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with the final checkpoint on held-out images (Noisy → Restored, scale bar preserved):</a:t>
            </a:r>
            <a:endParaRPr lang="en-US" sz="1200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949440" cy="4709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635240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noise-vs-intensity relationship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(supports the confirmed multiplicative-noise finding):</a:t>
            </a:r>
            <a:endParaRPr lang="en-US" sz="1100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331720"/>
            <a:ext cx="4069080" cy="34747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35240" y="58064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= 0.864 across the full 4,785-image dataset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Restorations — Highest-PSNR Held-Out Examples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evaluate.py's own PSNR ranking, not hand-picked — spanning distinct content (a grain-boundary crack, dense particle packing, and ringed particle clusters):</a:t>
            </a:r>
            <a:endParaRPr lang="en-US" sz="1200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920240"/>
            <a:ext cx="4892040" cy="4572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Repository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607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7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and retrained NAFNetSR-tiny for the real SEM/semiconductor imagery domain, with content-stratified, verified leak-free validation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7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additive, individually-verified improvements: 1.5× category-weighted oversampling, rotation augmentation, calibrated synthetic degradation — cumulative +0.090 dB PSNR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7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experiments tested and correctly rejected (intensity-weighted loss, larger model, per-category noise recalibration) — honest, measured evidence, not speculation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7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strong cross-domain generalization (27.6 dB on Phase 1's natural-photo domain, untrained) and validated on two independent test sets (23.56 / 23.62 dB)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7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batch-8 throughput of 3.42 ms/image, matching run.py's actual grading pipeline exactly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607040" cy="0"/>
          </a:xfrm>
          <a:prstGeom prst="line">
            <a:avLst/>
          </a:prstGeom>
          <a:noFill/>
          <a:ln w="12700">
            <a:solidFill>
              <a:srgbClr val="2C3E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440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7" name="Text 5">
            <a:hlinkClick r:id="" action="ppaction://noaction"/>
          </p:cNvPr>
          <p:cNvSpPr txBox="1"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https://github.com/Nag123-tel/kla-restoration_Phase2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Anaavarana · A Trail </a:t>
            </a:r>
            <a:r>
              <a:rPr lang="en-US" sz="100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Unveil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3191</Words>
  <Application>Microsoft Office PowerPoint</Application>
  <PresentationFormat>Widescreen</PresentationFormat>
  <Paragraphs>391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nagavyshnavi boyapalli</cp:lastModifiedBy>
  <cp:revision>3</cp:revision>
  <dcterms:created xsi:type="dcterms:W3CDTF">2026-08-15T16:54:41Z</dcterms:created>
  <dcterms:modified xsi:type="dcterms:W3CDTF">2026-09-03T17:24:52Z</dcterms:modified>
</cp:coreProperties>
</file>