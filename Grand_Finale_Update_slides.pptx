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22718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 PROBLEM STATEMENT · HACKATHON 2026 · GRAND FINALE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37744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Finale Update: SEM+Cellular Domain</a:t>
            </a:r>
            <a:endParaRPr lang="en-US" sz="34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Adaptation &amp; Throughput Optimization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2062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5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on a new, more diverse dataset </a:t>
            </a:r>
            <a:r>
              <a:rPr lang="en-US" sz="1300" b="1" dirty="0">
                <a:solidFill>
                  <a:srgbClr val="1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(incl. novel cellular content)</a:t>
            </a:r>
            <a:r>
              <a:rPr lang="en-US" sz="1300" dirty="0">
                <a:solidFill>
                  <a:srgbClr val="D5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zero forgetting, plus a verified </a:t>
            </a:r>
            <a:r>
              <a:rPr lang="en-US" sz="1300" b="1" dirty="0">
                <a:solidFill>
                  <a:srgbClr val="1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1.95× throughput gain</a:t>
            </a:r>
            <a:r>
              <a:rPr lang="en-US" sz="1300" dirty="0">
                <a:solidFill>
                  <a:srgbClr val="D5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 zero quality cost.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E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Anaavarana · A Trail </a:t>
            </a:r>
            <a:r>
              <a:rPr lang="en-US" sz="1000">
                <a:solidFill>
                  <a:srgbClr val="7E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Unveil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Dataset — More Diverse Than Anticipated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2588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dataset (1,197 images, filename indicated “excluded” — reasoning unconfirmed by KLA at submission time) was provided for the Grand Finale round.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3630168" cy="3566160"/>
          </a:xfrm>
          <a:prstGeom prst="roundRect">
            <a:avLst>
              <a:gd name="adj" fmla="val 2051"/>
            </a:avLst>
          </a:prstGeom>
          <a:solidFill>
            <a:srgbClr val="F4F6F8"/>
          </a:solidFill>
          <a:ln w="9525">
            <a:solidFill>
              <a:srgbClr val="C9D3D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286000"/>
            <a:ext cx="31729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Re-clustered from scratch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063240"/>
            <a:ext cx="317296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K=6 (Phase 2's scheme) proved too coarse. Iterated K=6 → K=10 → targeted re-splits on 3 residually-mixed clusters, arriving at 13 verified categories — each confirmed by eye, not trusted on the algorithm's word alone.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88536" y="2103120"/>
            <a:ext cx="3630168" cy="3566160"/>
          </a:xfrm>
          <a:prstGeom prst="roundRect">
            <a:avLst>
              <a:gd name="adj" fmla="val 2051"/>
            </a:avLst>
          </a:prstGeom>
          <a:solidFill>
            <a:srgbClr val="F4F6F8"/>
          </a:solidFill>
          <a:ln w="9525">
            <a:solidFill>
              <a:srgbClr val="C9D3D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17136" y="2286000"/>
            <a:ext cx="31729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Genuinely novel content found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517136" y="3063240"/>
            <a:ext cx="317296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categories (cellular_single_process, cellular_branching) show biological/cellular SEM morphology — never present in any prior training data. A real domain expansion, not just new samples of old categories.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119872" y="2103120"/>
            <a:ext cx="3630168" cy="3566160"/>
          </a:xfrm>
          <a:prstGeom prst="roundRect">
            <a:avLst>
              <a:gd name="adj" fmla="val 2051"/>
            </a:avLst>
          </a:prstGeom>
          <a:solidFill>
            <a:srgbClr val="F4F6F8"/>
          </a:solidFill>
          <a:ln w="9525">
            <a:solidFill>
              <a:srgbClr val="C9D3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48472" y="2286000"/>
            <a:ext cx="31729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statistics matched Phase 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348472" y="3063240"/>
            <a:ext cx="317296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0.869 vs Phase 2's 0.864; magnitude ~0.101 vs ~0.100. Same underlying multiplicative-noise generation process, confirming Phase 2's calibration approach remained valid.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leak-free, 10%-per-category stratified split (1,083 train / 114 val) across all 13 categories, matching Phase 2's methodology exactly.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Strategy — Tested Empirically, Not Assumed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approaches tested and measured honestly on the leak-free, full-resolution 114-image validation set: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11155680" cy="475488"/>
          </a:xfrm>
          <a:prstGeom prst="rect">
            <a:avLst/>
          </a:prstGeom>
          <a:solidFill>
            <a:srgbClr val="16233A"/>
          </a:solidFill>
          <a:ln w="6350">
            <a:solidFill>
              <a:srgbClr val="C9D3D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828800"/>
            <a:ext cx="7040880" cy="47548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589520" y="1828800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869680" y="1828800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SSIM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0149840" y="182880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304288"/>
            <a:ext cx="111556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9D3D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304288"/>
            <a:ext cx="7040880" cy="47548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From-scratch (1,083 images, no pretrain)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589520" y="2304288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23.439 dB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869680" y="2304288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0.6057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0149840" y="230428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779776"/>
            <a:ext cx="11155680" cy="475488"/>
          </a:xfrm>
          <a:prstGeom prst="rect">
            <a:avLst/>
          </a:prstGeom>
          <a:solidFill>
            <a:srgbClr val="F4F6F8"/>
          </a:solidFill>
          <a:ln w="6350">
            <a:solidFill>
              <a:srgbClr val="C9D3D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2779776"/>
            <a:ext cx="7040880" cy="47548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Phase 2 model, untouched (never trained on this data)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589520" y="2779776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23.664 dB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869680" y="2779776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0.6239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0149840" y="2779776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255264"/>
            <a:ext cx="111556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9D3D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" y="3255264"/>
            <a:ext cx="7040880" cy="47548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from Phase 2 checkpoint (lr=5e-5) — DEPLOYED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589520" y="3255264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23.697 dB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869680" y="3255264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0.6238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0149840" y="3255264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730752"/>
            <a:ext cx="11155680" cy="475488"/>
          </a:xfrm>
          <a:prstGeom prst="rect">
            <a:avLst/>
          </a:prstGeom>
          <a:solidFill>
            <a:srgbClr val="F4F6F8"/>
          </a:solidFill>
          <a:ln w="6350">
            <a:solidFill>
              <a:srgbClr val="C9D3D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7200" y="3730752"/>
            <a:ext cx="7040880" cy="47548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+ rotation only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589520" y="3730752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23.682 dB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8869680" y="3730752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0.6246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10149840" y="3730752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A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4206240"/>
            <a:ext cx="111556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9D3D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57200" y="4206240"/>
            <a:ext cx="7040880" cy="47548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+ rotation + synthetic degradation (lr=5e-5)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7589520" y="4206240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23.631 dB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8869680" y="4206240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0.6235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10149840" y="420624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4681728"/>
            <a:ext cx="11155680" cy="475488"/>
          </a:xfrm>
          <a:prstGeom prst="rect">
            <a:avLst/>
          </a:prstGeom>
          <a:solidFill>
            <a:srgbClr val="F4F6F8"/>
          </a:solidFill>
          <a:ln w="6350">
            <a:solidFill>
              <a:srgbClr val="C9D3D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57200" y="4681728"/>
            <a:ext cx="7040880" cy="47548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+ rotation + synthetic degradation (lr=1e-4)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7589520" y="4681728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23.649 dB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8869680" y="4681728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0.6242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10149840" y="468172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457200" y="5385816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beat the untouched old model on 12/13 categories. Adding Phase 2's proven augmentations ON TOP of fine-tuning underperformed at two learning rates — isolated to synthetic-data pool dilution diminishing the focused, low-LR fine-tune signal (not augmentation broadly: rotation alone came close). Not adopted for the final checkpoint.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Check — Fine-Tuning Safety Verification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258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risks improving on new data while quietly losing prior capability. Verified directly against both earlier domains: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11338560" cy="594360"/>
          </a:xfrm>
          <a:prstGeom prst="rect">
            <a:avLst/>
          </a:prstGeom>
          <a:solidFill>
            <a:srgbClr val="16233A"/>
          </a:solidFill>
          <a:ln w="6350">
            <a:solidFill>
              <a:srgbClr val="C9D3D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01168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4846320" y="20116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Phase 2 Model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589520" y="201168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Finale Fine-Tuned Model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0149840" y="201168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2606040"/>
            <a:ext cx="113385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9D3D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60604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(natural photos, cross-domain)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260604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27.610 dB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7589520" y="26060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27.736 dB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10149840" y="260604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+0.126 dB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3200400"/>
            <a:ext cx="11338560" cy="594360"/>
          </a:xfrm>
          <a:prstGeom prst="rect">
            <a:avLst/>
          </a:prstGeom>
          <a:solidFill>
            <a:srgbClr val="F4F6F8"/>
          </a:solidFill>
          <a:ln w="6350">
            <a:solidFill>
              <a:srgbClr val="C9D3D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20040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(original SEM training domain)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32004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23.664 dB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7589520" y="320040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23.611 dB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0149840" y="320040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8A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−0.053 dB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57200" y="3794760"/>
            <a:ext cx="113385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9D3D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" y="379476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Finale (new SEM + cellular, target domain)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4846320" y="379476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23.664 dB*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7589520" y="379476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23.697 dB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10149840" y="379476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+0.033 dB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4434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*old model's score on finale data, shown for reference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4846320"/>
            <a:ext cx="11338560" cy="1371600"/>
          </a:xfrm>
          <a:prstGeom prst="roundRect">
            <a:avLst>
              <a:gd name="adj" fmla="val 5333"/>
            </a:avLst>
          </a:prstGeom>
          <a:solidFill>
            <a:srgbClr val="F4F6F8"/>
          </a:solidFill>
          <a:ln w="9525">
            <a:solidFill>
              <a:srgbClr val="C9D3D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31520" y="501091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no meaningful forgetting.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31520" y="532180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generalization improved. The Phase 2 dip (−0.053 dB) is smaller than the run-to-run noise observed repeatedly throughout this project. The model gained new-domain capability while essentially fully retaining prior capability — a well-behaved fine-tune, not a trade-off.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Optimization — FP16 Inference, Verified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258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Half-precision (FP16) inference patched directly into run.py (the actual graded entry point) — not a side benchmark.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2697480" cy="146304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 w="9525">
            <a:solidFill>
              <a:srgbClr val="C9D3D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103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FP32 baseline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(batch=8, T4 GPU)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9748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4.721 ms/image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3337560" y="1965960"/>
            <a:ext cx="2697480" cy="146304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 w="9525">
            <a:solidFill>
              <a:srgbClr val="C9D3D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20440" y="2103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FP16 (deployed)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(batch=8, T4 GPU)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269748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2.419 ms/image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6217920" y="1965960"/>
            <a:ext cx="2697480" cy="146304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 w="9525">
            <a:solidFill>
              <a:srgbClr val="C9D3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0" y="2103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Speedup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269748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1.95×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9098280" y="1965960"/>
            <a:ext cx="2697480" cy="146304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 w="9525">
            <a:solidFill>
              <a:srgbClr val="C9D3D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281160" y="2103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cost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9281160" y="269748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3749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Full-dataset verification (not a sample)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2062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42062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the actual patched run.py end-to-end on all 1,197 images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645152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464515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/ 1,197 contract violations (shape, dtype, [0,1] range, NaN/Inf) confirmed on FP16 output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5084064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508406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PSNR/SSIM identical to FP32 to 3-4 decimal places: 23.697 dB / 0.6238, both precisions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5522976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" y="552297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GPU-only: automatically falls back to FP32 on CPU-only environments, verified working correctly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09904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 quantization was tested and rejected: CPU-based, ~62× slower than the verified GPU FP16 result on this hardware.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Restorations — Highest-PSNR Held-Out Examples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by evaluate.py's own PSNR ranking on the finale val set — spanning distinct content types:</a:t>
            </a:r>
            <a:endParaRPr lang="en-US" sz="1200" dirty="0"/>
          </a:p>
        </p:txBody>
      </p:sp>
      <p:pic>
        <p:nvPicPr>
          <p:cNvPr id="5" name="Image 0" descr="assets/finale_best_cura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1783080"/>
            <a:ext cx="5120640" cy="47823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Restorations — Honest Failure Analysis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Lowest-PSNR examples, shown without cherry-picking — dominated by near-featureless, low-structure content:</a:t>
            </a:r>
            <a:endParaRPr lang="en-US" sz="1200" dirty="0"/>
          </a:p>
        </p:txBody>
      </p:sp>
      <p:pic>
        <p:nvPicPr>
          <p:cNvPr id="5" name="Image 0" descr="assets/finale_worst_cura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1783080"/>
            <a:ext cx="5120640" cy="47823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66294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with Phase 2's “stochastic-texture ceiling” finding: near-featureless, high-noise content (row 2) sits at an information-theoretic recovery limit — not a model deficiency.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Metrics Summary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457200"/>
          </a:xfrm>
          <a:prstGeom prst="rect">
            <a:avLst/>
          </a:prstGeom>
          <a:solidFill>
            <a:srgbClr val="1C2B4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69164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checkpoint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6583680" y="16916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weights_finale_finetuned/best.pt → models/best.pt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148840"/>
            <a:ext cx="10881360" cy="45720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14884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PSNR (leak-free, 114 images)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2148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23.697 dB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606040"/>
            <a:ext cx="10881360" cy="457200"/>
          </a:xfrm>
          <a:prstGeom prst="rect">
            <a:avLst/>
          </a:prstGeom>
          <a:solidFill>
            <a:srgbClr val="1C2B4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260604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SSIM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26060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0.6238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063240"/>
            <a:ext cx="10881360" cy="45720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306324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Throughput, FP32 (batch=8, T4)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30632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4.721 ms/image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520440"/>
            <a:ext cx="10881360" cy="457200"/>
          </a:xfrm>
          <a:prstGeom prst="rect">
            <a:avLst/>
          </a:prstGeom>
          <a:solidFill>
            <a:srgbClr val="1C2B4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352044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Throughput, FP16 (batch=8, T4) — deployed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583680" y="35204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2.419 ms/image (1.95× faster)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3977640"/>
            <a:ext cx="10881360" cy="45720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397764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validity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583680" y="39776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1,197 / 1,197 clean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4434840"/>
            <a:ext cx="10881360" cy="457200"/>
          </a:xfrm>
          <a:prstGeom prst="rect">
            <a:avLst/>
          </a:prstGeom>
          <a:solidFill>
            <a:srgbClr val="1C2B45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22960" y="443484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cross-domain (forgetting check)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6583680" y="4434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27.736 dB (improved from 27.610 dB)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4892040"/>
            <a:ext cx="10881360" cy="45720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22960" y="489204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domain (forgetting check)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6583680" y="48920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23.611 dB (noise-level dip from 23.664 dB)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" y="5349240"/>
            <a:ext cx="10881360" cy="457200"/>
          </a:xfrm>
          <a:prstGeom prst="rect">
            <a:avLst/>
          </a:prstGeom>
          <a:solidFill>
            <a:srgbClr val="1C2B45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22960" y="534924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 discovered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6583680" y="53492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(incl. 2 novel cellular categories)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22960" y="580644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Val split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6583680" y="58064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1,083 / 114 (10%-per-category stratified)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E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Anaavarana · A Trail to Unveil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965</Words>
  <Application>Microsoft Office PowerPoint</Application>
  <PresentationFormat>Widescreen</PresentationFormat>
  <Paragraphs>135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nagavyshnavi boyapalli</cp:lastModifiedBy>
  <cp:revision>2</cp:revision>
  <dcterms:created xsi:type="dcterms:W3CDTF">2026-09-18T10:46:38Z</dcterms:created>
  <dcterms:modified xsi:type="dcterms:W3CDTF">2026-09-18T11:06:21Z</dcterms:modified>
</cp:coreProperties>
</file>