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7" r:id="rId2"/>
    <p:sldId id="268" r:id="rId3"/>
    <p:sldId id="269" r:id="rId4"/>
    <p:sldId id="270" r:id="rId5"/>
    <p:sldId id="27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525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 FINALE · A DATASET CALLED “EXCLUDED”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79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1,197-image set, investigated before anything was built on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25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Re-ran our clustering pipeline — K=6 (of Phase 2) was too coarse, so we iterated to K=10 and re-split three still-mixed clusters, arriving at 13 categories confirmed by eye.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5975" y="2282825"/>
            <a:ext cx="3417570" cy="1177290"/>
          </a:xfrm>
          <a:prstGeom prst="roundRect">
            <a:avLst>
              <a:gd name="adj" fmla="val 8360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380" y="2475229"/>
            <a:ext cx="31237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1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1,197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8380" y="3046729"/>
            <a:ext cx="312374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C67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images, spec-verified before any training began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2295" y="2282825"/>
            <a:ext cx="3417570" cy="1177290"/>
          </a:xfrm>
          <a:prstGeom prst="roundRect">
            <a:avLst>
              <a:gd name="adj" fmla="val 8360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4700" y="2475229"/>
            <a:ext cx="31237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E1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84700" y="3046729"/>
            <a:ext cx="312374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C67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categories, up from Phase 2's 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5440" y="2279650"/>
            <a:ext cx="3413760" cy="1183640"/>
          </a:xfrm>
          <a:prstGeom prst="roundRect">
            <a:avLst>
              <a:gd name="adj" fmla="val 8584"/>
            </a:avLst>
          </a:prstGeom>
          <a:solidFill>
            <a:srgbClr val="0E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155940" y="2470150"/>
            <a:ext cx="312374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new categories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155940" y="2881629"/>
            <a:ext cx="312374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biological / cellular SEM content — never present in any prior 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3641092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discipline as before: 10% held out per category, so the two brand-new cellular categories are represented in validation, not left to chance.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122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· Grand Finale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 FINALE · TESTED, NOT ASSUMED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79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start over — adapt what already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25600"/>
            <a:ext cx="1088339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strategies, measured head-to-head on the same held-out set, across all 13 categories: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5975" y="2044700"/>
            <a:ext cx="3417570" cy="1620520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380" y="2237104"/>
            <a:ext cx="31237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scratch, new data only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8380" y="2641600"/>
            <a:ext cx="3123743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C67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1,083 images, trained fresh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8380" y="3010539"/>
            <a:ext cx="31237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5C67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23.439 dB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92295" y="2044700"/>
            <a:ext cx="3417570" cy="1620520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4700" y="2237104"/>
            <a:ext cx="31237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Untouched Phase 2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4700" y="2548254"/>
            <a:ext cx="312374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C67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trained on this data — beat the from-scratch model on all 13 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4700" y="3010539"/>
            <a:ext cx="31237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5C67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23.664 dB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965440" y="2041525"/>
            <a:ext cx="3413760" cy="1626870"/>
          </a:xfrm>
          <a:prstGeom prst="roundRect">
            <a:avLst>
              <a:gd name="adj" fmla="val 6245"/>
            </a:avLst>
          </a:prstGeom>
          <a:solidFill>
            <a:srgbClr val="0E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55940" y="2232025"/>
            <a:ext cx="31237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5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Fine-tuned from Phase 2 checkpoint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55940" y="2548254"/>
            <a:ext cx="312374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Gentle, low learning rate — beat the old model on 12 of 13 categories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55940" y="3015617"/>
            <a:ext cx="31237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2FBF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23.697 dB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2800" y="3846196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1,083 new images alone can't match a model that already learned from 4,310 — fine-tuning wins.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122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· Grand Finale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 FINALE · TWO SAFETY CHECKS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79"/>
            <a:ext cx="108833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Rejecting augmentation, and ruling out catastrophic forgetting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15975" y="1614804"/>
            <a:ext cx="5175250" cy="2660650"/>
          </a:xfrm>
          <a:prstGeom prst="roundRect">
            <a:avLst>
              <a:gd name="adj" fmla="val 3699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819914"/>
            <a:ext cx="490799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Augmentation, tried twice, rejected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21080" y="2114550"/>
            <a:ext cx="4907991" cy="1120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Synthetic-noise augmentation helped in Phase 2 — here it made fine-tuning worse at two learning rates (23.631, 23.649 vs. 23.697). Rotation alone, no synthetic data, came close (23.682): doubling the pool with synthetic images diluted focused exposure to real images during a deliberately gentle fine-tune.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0775" y="1614804"/>
            <a:ext cx="5175250" cy="2660650"/>
          </a:xfrm>
          <a:prstGeom prst="roundRect">
            <a:avLst>
              <a:gd name="adj" fmla="val 3699"/>
            </a:avLst>
          </a:prstGeom>
          <a:solidFill>
            <a:srgbClr val="FFFFFF"/>
          </a:solidFill>
          <a:ln w="6350">
            <a:solidFill>
              <a:srgbClr val="E0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5880" y="1819914"/>
            <a:ext cx="490799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catastrophic forgetting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5880" y="2114550"/>
          <a:ext cx="4765041" cy="1465580"/>
        </p:xfrm>
        <a:graphic>
          <a:graphicData uri="http://schemas.openxmlformats.org/drawingml/2006/table">
            <a:tbl>
              <a:tblPr/>
              <a:tblGrid>
                <a:gridCol w="1588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5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Domain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5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Old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5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Fine-tuned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1 (natural photos)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27.610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78F7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27.736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 2 (original SEM domain)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23.664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23.611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5880" y="3679192"/>
            <a:ext cx="490799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tiny, noise-level dip on old data — the model gained new capability without losing what it already had.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22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· Grand Finale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 FINALE · THROUGHPUT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79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F5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1.95× speedup, verified to cost zero quality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10566400" cy="1277620"/>
          </a:xfrm>
          <a:prstGeom prst="roundRect">
            <a:avLst>
              <a:gd name="adj" fmla="val 7952"/>
            </a:avLst>
          </a:prstGeom>
          <a:solidFill>
            <a:srgbClr val="182C44"/>
          </a:solidFill>
          <a:ln/>
        </p:spPr>
      </p:sp>
      <p:sp>
        <p:nvSpPr>
          <p:cNvPr id="5" name="Text 3"/>
          <p:cNvSpPr/>
          <p:nvPr/>
        </p:nvSpPr>
        <p:spPr>
          <a:xfrm>
            <a:off x="1590357" y="1854200"/>
            <a:ext cx="23088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· run.py, batch-8, T4, FP32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05372" y="2087879"/>
            <a:ext cx="2072031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3300" dirty="0">
                <a:solidFill>
                  <a:srgbClr val="F5F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4.721 ms</a:t>
            </a:r>
            <a:endParaRPr lang="en-US" sz="33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4224" y="2169164"/>
            <a:ext cx="482600" cy="190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58443" y="1854200"/>
            <a:ext cx="20215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FP16, patched into run.py itself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33996" y="2087879"/>
            <a:ext cx="2072031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3300" dirty="0">
                <a:solidFill>
                  <a:srgbClr val="2FBF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2.419 ms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9703197" y="1854200"/>
            <a:ext cx="60785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Speedup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53074" y="2087879"/>
            <a:ext cx="130810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3300" dirty="0">
                <a:solidFill>
                  <a:srgbClr val="F5F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1.95×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812800" y="3081021"/>
            <a:ext cx="3420507" cy="1198245"/>
          </a:xfrm>
          <a:prstGeom prst="roundRect">
            <a:avLst>
              <a:gd name="adj" fmla="val 8479"/>
            </a:avLst>
          </a:prstGeom>
          <a:solidFill>
            <a:srgbClr val="182C44"/>
          </a:solidFill>
          <a:ln/>
        </p:spPr>
      </p:sp>
      <p:sp>
        <p:nvSpPr>
          <p:cNvPr id="13" name="Text 10"/>
          <p:cNvSpPr/>
          <p:nvPr/>
        </p:nvSpPr>
        <p:spPr>
          <a:xfrm>
            <a:off x="977900" y="3246121"/>
            <a:ext cx="318301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DBE0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7900" y="3514092"/>
            <a:ext cx="3183016" cy="62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Casts model + batch to FP16 automatically when a GPU is present; CPU-only environments fall back to FP32, since FP16 isn't reliably faster there.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5707" y="3081021"/>
            <a:ext cx="3420586" cy="1198245"/>
          </a:xfrm>
          <a:prstGeom prst="roundRect">
            <a:avLst>
              <a:gd name="adj" fmla="val 8479"/>
            </a:avLst>
          </a:prstGeom>
          <a:solidFill>
            <a:srgbClr val="182C44"/>
          </a:solidFill>
          <a:ln/>
        </p:spPr>
      </p:sp>
      <p:sp>
        <p:nvSpPr>
          <p:cNvPr id="16" name="Text 13"/>
          <p:cNvSpPr/>
          <p:nvPr/>
        </p:nvSpPr>
        <p:spPr>
          <a:xfrm>
            <a:off x="4550807" y="3246121"/>
            <a:ext cx="3183098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DBE0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Verified, not assumed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50807" y="3514092"/>
            <a:ext cx="3183098" cy="62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1,197-image run: PSNR/SSIM identical to FP32 to 3–4 decimals (23.697 dB / 0.6238). 0 contract violations across all outputs.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8693" y="3081021"/>
            <a:ext cx="3420507" cy="1198245"/>
          </a:xfrm>
          <a:prstGeom prst="roundRect">
            <a:avLst>
              <a:gd name="adj" fmla="val 8479"/>
            </a:avLst>
          </a:prstGeom>
          <a:solidFill>
            <a:srgbClr val="182C44"/>
          </a:solidFill>
          <a:ln/>
        </p:spPr>
      </p:sp>
      <p:sp>
        <p:nvSpPr>
          <p:cNvPr id="19" name="Text 16"/>
          <p:cNvSpPr/>
          <p:nvPr/>
        </p:nvSpPr>
        <p:spPr>
          <a:xfrm>
            <a:off x="8123793" y="3246121"/>
            <a:ext cx="318301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DBE0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INT8, ruled out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123793" y="3514092"/>
            <a:ext cx="3183016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honestly: ran on CPU, ~62× slower than FP16-GPU. Correctly not pursued.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2800" y="6238242"/>
            <a:ext cx="122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· Grand Finale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FBF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 FINALE · BEST RESTORATIONS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2675"/>
            <a:ext cx="10883392" cy="38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6"/>
              </a:lnSpc>
              <a:buNone/>
            </a:pPr>
            <a:r>
              <a:rPr lang="en-US" sz="2492" b="1" dirty="0">
                <a:solidFill>
                  <a:srgbClr val="F5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Highest-PSNR cases, on the new 13-category data</a:t>
            </a:r>
            <a:endParaRPr lang="en-US" sz="2492" dirty="0"/>
          </a:p>
        </p:txBody>
      </p:sp>
      <p:pic>
        <p:nvPicPr>
          <p:cNvPr id="4" name="Image 0" descr="Top three highest-PSNR restorations from the Grand Finale fine-tuned checkpoint, images 000516, 000654 and 000912, each showing noisy input, model restored, and ground truth"/>
          <p:cNvPicPr>
            <a:picLocks noChangeAspect="1"/>
          </p:cNvPicPr>
          <p:nvPr/>
        </p:nvPicPr>
        <p:blipFill>
          <a:blip r:embed="rId3"/>
          <a:srcRect l="-788" r="-788"/>
          <a:stretch/>
        </p:blipFill>
        <p:spPr>
          <a:xfrm>
            <a:off x="3879850" y="1602904"/>
            <a:ext cx="4432300" cy="38776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76675" y="1599729"/>
            <a:ext cx="4438650" cy="3883978"/>
          </a:xfrm>
          <a:prstGeom prst="rect">
            <a:avLst/>
          </a:prstGeom>
          <a:noFill/>
          <a:ln w="6350">
            <a:solidFill>
              <a:srgbClr val="2233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304" y="5639284"/>
            <a:ext cx="10883392" cy="22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10"/>
              </a:lnSpc>
              <a:buNone/>
            </a:pPr>
            <a:r>
              <a:rPr lang="en-US" sz="115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fine-tuned checkpoint on unseen, more diverse content — including morphologies well outside Phase 2's original 7 categories.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122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· Grand Finale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519</Words>
  <Application>Microsoft Office PowerPoint</Application>
  <PresentationFormat>Widescreen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Anaavarana — KLA Image Restoration: Phase 1 → Phase 2 → Grand Finale</dc:title>
  <dc:subject>PptxGenJS Presentation</dc:subject>
  <dc:creator>PptxGenJS</dc:creator>
  <cp:lastModifiedBy>nagavyshnavi boyapalli</cp:lastModifiedBy>
  <cp:revision>2</cp:revision>
  <dcterms:created xsi:type="dcterms:W3CDTF">2026-09-18T08:45:05Z</dcterms:created>
  <dcterms:modified xsi:type="dcterms:W3CDTF">2026-09-18T10:58:50Z</dcterms:modified>
</cp:coreProperties>
</file>